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nva Sans" charset="1" panose="020B0503030501040103"/>
      <p:regular r:id="rId28"/>
    </p:embeddedFont>
    <p:embeddedFont>
      <p:font typeface="Canva Sans Bold" charset="1" panose="020B08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9194" y="4819967"/>
            <a:ext cx="356961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 ALGORITHMS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986" y="804493"/>
            <a:ext cx="17086347" cy="8543173"/>
          </a:xfrm>
          <a:custGeom>
            <a:avLst/>
            <a:gdLst/>
            <a:ahLst/>
            <a:cxnLst/>
            <a:rect r="r" b="b" t="t" l="l"/>
            <a:pathLst>
              <a:path h="8543173" w="17086347">
                <a:moveTo>
                  <a:pt x="0" y="0"/>
                </a:moveTo>
                <a:lnTo>
                  <a:pt x="17086347" y="0"/>
                </a:lnTo>
                <a:lnTo>
                  <a:pt x="17086347" y="8543173"/>
                </a:lnTo>
                <a:lnTo>
                  <a:pt x="0" y="8543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4809" y="4819967"/>
            <a:ext cx="1371838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Machine Learning = Give data → Learn patterns → Make predictions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204189" y="1375282"/>
          <a:ext cx="5657850" cy="3143250"/>
        </p:xfrm>
        <a:graphic>
          <a:graphicData uri="http://schemas.openxmlformats.org/presentationml/2006/ole">
            <p:oleObj imgW="6781800" imgH="4267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6763" y="4189262"/>
            <a:ext cx="1513447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If  a patient checks whether hes going to have heart disease is called classfication(binary)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whether he could take insurance or not is Regression (how much i could pay)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3373" y="4819967"/>
            <a:ext cx="622125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statistics distribution(EDA)</a:t>
            </a:r>
          </a:p>
          <a:p>
            <a:pPr algn="ctr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mathametical intuition +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workout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22716" y="3950029"/>
            <a:ext cx="24425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 =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1362" y="1660921"/>
            <a:ext cx="5210413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Statistical Distribution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79438" y="3620592"/>
            <a:ext cx="16408562" cy="414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5"/>
              </a:lnSpc>
            </a:pPr>
            <a:r>
              <a:rPr lang="en-US" sz="3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Binomial Distribution → coin -&gt;head /tail </a:t>
            </a:r>
          </a:p>
          <a:p>
            <a:pPr algn="ctr">
              <a:lnSpc>
                <a:spcPts val="8435"/>
              </a:lnSpc>
            </a:pPr>
            <a:r>
              <a:rPr lang="en-US" sz="3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Bernouli Distribution → 10 time* Tossing</a:t>
            </a:r>
          </a:p>
          <a:p>
            <a:pPr algn="ctr">
              <a:lnSpc>
                <a:spcPts val="8435"/>
              </a:lnSpc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Geometric distribution → How many u should toss a coin to get head or tail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1919" y="1959218"/>
            <a:ext cx="12051101" cy="288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860" indent="-375930" lvl="1">
              <a:lnSpc>
                <a:spcPts val="7939"/>
              </a:lnSpc>
              <a:buFont typeface="Arial"/>
              <a:buChar char="•"/>
            </a:pPr>
            <a:r>
              <a:rPr lang="en-US" b="true" sz="3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Supervised learning regression algorithm</a:t>
            </a:r>
          </a:p>
          <a:p>
            <a:pPr algn="l" marL="751860" indent="-375930" lvl="1">
              <a:lnSpc>
                <a:spcPts val="7939"/>
              </a:lnSpc>
              <a:buFont typeface="Arial"/>
              <a:buChar char="•"/>
            </a:pPr>
            <a:r>
              <a:rPr lang="en-US" b="true" sz="3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ip (x) vs  op(y)</a:t>
            </a:r>
          </a:p>
          <a:p>
            <a:pPr algn="l">
              <a:lnSpc>
                <a:spcPts val="7939"/>
              </a:lnSpc>
            </a:pPr>
            <a:r>
              <a:rPr lang="en-US" sz="348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relationship between 2 values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2381" y="962025"/>
            <a:ext cx="4168855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Regression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87280" y="6656705"/>
            <a:ext cx="7031722" cy="260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 independent variable </a:t>
            </a:r>
          </a:p>
          <a:p>
            <a:pPr algn="l" marL="798828" indent="-399414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dependent variable/</a:t>
            </a:r>
          </a:p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predicted variable/ target vector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14531"/>
            <a:ext cx="16394133" cy="45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Regression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Predicts continuous numerical values (e.g., house prices, temperatures).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works:</a:t>
            </a: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Fits a straight line (best-fit hyperplane) that minimizes the sum of squared differences between predicted and actual values.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used for:</a:t>
            </a: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Continuous target variables with a linear relationship to features. [1, 2, 3]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3904"/>
            <a:ext cx="15948461" cy="877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→ Model → Number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b="true" sz="38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Hours studied → Exam score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students study: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 hour → 35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hours → 45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 hours → 55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 hours → 65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 hours → 75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learns a relationship between hours and marks.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Then: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b="true" sz="38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 studies 5 hours → predict ~80 marks.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That's Linear Regression.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5307973"/>
          <a:ext cx="3771900" cy="3143250"/>
        </p:xfrm>
        <a:graphic>
          <a:graphicData uri="http://schemas.openxmlformats.org/presentationml/2006/ole">
            <p:oleObj imgW="4521200" imgH="388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827761" y="705167"/>
            <a:ext cx="115051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Let me draw the best straight line through these points.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0199" y="2612243"/>
            <a:ext cx="20202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= mx + 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23944" y="3927483"/>
            <a:ext cx="85113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Prediction = slope × input + starting point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35246" y="5430615"/>
            <a:ext cx="23635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= 10x + 25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81213" y="6585062"/>
            <a:ext cx="3077027" cy="273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(if 5 hours)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 = 10(5) + 25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= 50 + 25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= 75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2619" y="924136"/>
            <a:ext cx="16867600" cy="611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 Regression</a:t>
            </a:r>
          </a:p>
          <a:p>
            <a:pPr algn="l">
              <a:lnSpc>
                <a:spcPts val="701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Purpose: Performs binary or categorical classification (e.g., spam vs. not spam).</a:t>
            </a:r>
          </a:p>
          <a:p>
            <a:pPr algn="l">
              <a:lnSpc>
                <a:spcPts val="701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it works: Uses a logistic or sigmoid function to map linear combinations of input features to probabilities between 0 and 1.</a:t>
            </a:r>
          </a:p>
          <a:p>
            <a:pPr algn="l">
              <a:lnSpc>
                <a:spcPts val="7019"/>
              </a:lnSpc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 used for: Linearly separable classification problems requiring probabilistic outputs. [1, 2]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8634730"/>
            <a:ext cx="17014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Linear Regression predicts HOW MUCH. Logistic Regression predicts WHICH CLASS. Hours studied → Pass / Fail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0725" y="346456"/>
            <a:ext cx="13489800" cy="9413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example: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A → 0.15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B → 0.42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C → 0.78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D → 0.91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we use a threshold.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Usually: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Probability ≥ 0.5 → Class 1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Probability &lt; 0.5 → Class 0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So: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0.78 → Pass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0.91 → Pass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0.15 → Fail</a:t>
            </a:r>
          </a:p>
          <a:p>
            <a:pPr algn="ctr">
              <a:lnSpc>
                <a:spcPts val="5336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0.42 → Fail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1981" y="-47625"/>
            <a:ext cx="5003131" cy="1037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DATA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Initial Weight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Make Prediction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Compare with Actual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LOSS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GRADIENT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"Change weight this way"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Update Weight + Bias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Make Prediction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...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↓</a:t>
            </a:r>
          </a:p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b="true" sz="28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FINAL WEIGHTS 🎯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14475"/>
            <a:ext cx="17259300" cy="700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9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Naive Bayes</a:t>
            </a:r>
          </a:p>
          <a:p>
            <a:pPr algn="l" marL="0" indent="0" lvl="0">
              <a:lnSpc>
                <a:spcPts val="7019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35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Handles fast text and categorical classification (e.g., sentiment analysis, document sorting).</a:t>
            </a:r>
          </a:p>
          <a:p>
            <a:pPr algn="l" marL="0" indent="0" lvl="0">
              <a:lnSpc>
                <a:spcPts val="7019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works: </a:t>
            </a:r>
            <a:r>
              <a:rPr lang="en-US" sz="35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Applies Bayes' Theorem of probability while making a "naive" assumption that all input features are conditionally independent of one another.</a:t>
            </a:r>
          </a:p>
          <a:p>
            <a:pPr algn="l" marL="0" indent="0" lvl="0">
              <a:lnSpc>
                <a:spcPts val="7019"/>
              </a:lnSpc>
              <a:spcBef>
                <a:spcPct val="0"/>
              </a:spcBef>
            </a:pPr>
            <a:r>
              <a:rPr lang="en-US" b="true" sz="35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used for: </a:t>
            </a:r>
            <a:r>
              <a:rPr lang="en-US" sz="35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High-dimensional datasets like text data where feature independence holds reasonably well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950118" y="4283153"/>
          <a:ext cx="3771900" cy="3143250"/>
        </p:xfrm>
        <a:graphic>
          <a:graphicData uri="http://schemas.openxmlformats.org/presentationml/2006/ole">
            <p:oleObj imgW="4521200" imgH="388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875527" y="89358"/>
            <a:ext cx="5399930" cy="224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9"/>
              </a:lnSpc>
              <a:spcBef>
                <a:spcPct val="0"/>
              </a:spcBef>
            </a:pPr>
            <a:r>
              <a:rPr lang="en-US" sz="43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P(A|B) = P(B|A) × P(A)</a:t>
            </a:r>
          </a:p>
          <a:p>
            <a:pPr algn="l">
              <a:lnSpc>
                <a:spcPts val="6029"/>
              </a:lnSpc>
              <a:spcBef>
                <a:spcPct val="0"/>
              </a:spcBef>
            </a:pPr>
            <a:r>
              <a:rPr lang="en-US" sz="43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----------------</a:t>
            </a:r>
          </a:p>
          <a:p>
            <a:pPr algn="l">
              <a:lnSpc>
                <a:spcPts val="6029"/>
              </a:lnSpc>
              <a:spcBef>
                <a:spcPct val="0"/>
              </a:spcBef>
            </a:pPr>
            <a:r>
              <a:rPr lang="en-US" sz="43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P(B)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30363"/>
            <a:ext cx="162306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Probability of A after seeing B = probability of seeing B if A is true × probability of A, divided by probability of seeing B.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860" y="2043110"/>
            <a:ext cx="17994140" cy="656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1"/>
              </a:lnSpc>
            </a:pPr>
            <a:r>
              <a:rPr lang="en-US" sz="376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K-Nearest Neighbors (KNN)</a:t>
            </a:r>
          </a:p>
          <a:p>
            <a:pPr algn="l">
              <a:lnSpc>
                <a:spcPts val="7501"/>
              </a:lnSpc>
            </a:pPr>
            <a:r>
              <a:rPr lang="en-US" sz="376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</a:t>
            </a:r>
            <a:r>
              <a:rPr lang="en-US" sz="37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Executes non-parametric classification and regression.</a:t>
            </a:r>
          </a:p>
          <a:p>
            <a:pPr algn="l">
              <a:lnSpc>
                <a:spcPts val="7501"/>
              </a:lnSpc>
            </a:pPr>
            <a:r>
              <a:rPr lang="en-US" sz="376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works:</a:t>
            </a:r>
            <a:r>
              <a:rPr lang="en-US" sz="37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 instance-based "lazy learner" that stores the training set and predicts a label by finding the K closest data points using a distance metric like Euclidean distance.</a:t>
            </a:r>
          </a:p>
          <a:p>
            <a:pPr algn="l">
              <a:lnSpc>
                <a:spcPts val="7501"/>
              </a:lnSpc>
            </a:pPr>
            <a:r>
              <a:rPr lang="en-US" sz="376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Best used for: </a:t>
            </a:r>
            <a:r>
              <a:rPr lang="en-US" sz="37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Small to medium, clean datasets with non-linear decision boundaries where no explicit training phase is desired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21208" y="1785070"/>
            <a:ext cx="9445584" cy="6716860"/>
          </a:xfrm>
          <a:custGeom>
            <a:avLst/>
            <a:gdLst/>
            <a:ahLst/>
            <a:cxnLst/>
            <a:rect r="r" b="b" t="t" l="l"/>
            <a:pathLst>
              <a:path h="6716860" w="9445584">
                <a:moveTo>
                  <a:pt x="0" y="0"/>
                </a:moveTo>
                <a:lnTo>
                  <a:pt x="9445584" y="0"/>
                </a:lnTo>
                <a:lnTo>
                  <a:pt x="9445584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DAHUyJ3SbWo</dc:identifier>
  <dcterms:modified xsi:type="dcterms:W3CDTF">2011-08-01T06:04:30Z</dcterms:modified>
  <cp:revision>1</cp:revision>
  <dc:title>ML ALGORITHMS</dc:title>
</cp:coreProperties>
</file>